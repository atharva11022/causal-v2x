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C64784-9AB9-4895-9C37-D7228D335338}">
  <a:tblStyle styleId="{ADC64784-9AB9-4895-9C37-D7228D3353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9b8b7e0c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99b8b7e0c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99b8b7e0c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99b8b7e0c_2_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f99b8b7e0c_2_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99b8b7e0c_2_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9b8b7e0c_2_3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99b8b7e0c_2_3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99b8b7e0c_2_3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99b8b7e0c_2_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99b8b7e0c_2_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99b8b7e0c_2_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99b8b7e0c_2_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99b8b7e0c_2_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99b8b7e0c_2_6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9b8b7e0c_2_9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f99b8b7e0c_2_9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f99b8b7e0c_2_9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9b8b7e0c_2_1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9b8b7e0c_2_1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99b8b7e0c_2_1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99b8b7e0c_2_1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99b8b7e0c_2_1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99b8b7e0c_2_12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99b8b7e0c_2_1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99b8b7e0c_2_1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99b8b7e0c_2_1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99b8b7e0c_2_1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f99b8b7e0c_2_1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99b8b7e0c_2_1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17220" y="1577340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mbria"/>
              <a:buNone/>
            </a:pPr>
            <a:r>
              <a:rPr b="1" i="0" lang="en-GB" sz="2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Causal Discovery from Naturalistic Driving Data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17220" y="2297430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with V2X Cooperative Perception and Generative Replay of Near-Miss Scenarios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17220" y="325755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Atharva Abhyankar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17220" y="353187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MIS: 712552009  •  Data Science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617225" y="40119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Internal Supervisor: Mr. S. S. Kumbhar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Overview &amp; Motivation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11480" y="754380"/>
            <a:ext cx="82981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converging research threads: how vehicles learn cause-and-effect from real driving data, how V2X extends what a vehicle can perceive, and how rare safety-critical events are synthesised for training.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11480" y="1440180"/>
            <a:ext cx="2640330" cy="2743200"/>
          </a:xfrm>
          <a:prstGeom prst="roundRect">
            <a:avLst>
              <a:gd fmla="val 2078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1512189" y="1680210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1512189" y="168021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582930" y="226314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Causal Discovery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617220" y="2777490"/>
            <a:ext cx="222885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Identifying which driver and vehicle actions causally trigger the actions of others, using counterfactual simulation and Bayesian structure learning.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257550" y="1440180"/>
            <a:ext cx="2640330" cy="2743200"/>
          </a:xfrm>
          <a:prstGeom prst="roundRect">
            <a:avLst>
              <a:gd fmla="val 2078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358259" y="1680210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358259" y="168021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429000" y="226314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V2X Cooperative Perception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63290" y="2777490"/>
            <a:ext cx="222885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Fusing onboard sensors with roadside-unit and connected-vehicle data to perceive agents beyond a single vehicle's line of sight.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103620" y="1440180"/>
            <a:ext cx="2640330" cy="2743200"/>
          </a:xfrm>
          <a:prstGeom prst="roundRect">
            <a:avLst>
              <a:gd fmla="val 2078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7204329" y="1680210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7204329" y="168021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275070" y="2263140"/>
            <a:ext cx="22974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Near-Miss Scenario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309360" y="2777490"/>
            <a:ext cx="222885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Using generative models to synthesise rare, safety-critical near-collision events absent from most naturalistic datasets.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Literature Synthesis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11480" y="754380"/>
            <a:ext cx="82981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Mapping each reviewed line of work against the three capabilities shows that none combine all three.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411480" y="1337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{ADC64784-9AB9-4895-9C37-D7228D335338}</a:tableStyleId>
              </a:tblPr>
              <a:tblGrid>
                <a:gridCol w="3566150"/>
                <a:gridCol w="1577325"/>
                <a:gridCol w="1577325"/>
                <a:gridCol w="1577325"/>
              </a:tblGrid>
              <a:tr h="32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Causal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Discovery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Perception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Near-Miss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Howard &amp; Kunze (Oxford)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 et al. (NUST / XJTLU)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Zimmer et al. — TUMTraf-V2X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 et al. (SJTU)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Onsu et al. (Univ. Ottawa)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Ding et al. — CMTS (CMU)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Pronovost et al. — Diffusion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Ding et al. — CausalAF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17"/>
          <p:cNvSpPr/>
          <p:nvPr/>
        </p:nvSpPr>
        <p:spPr>
          <a:xfrm>
            <a:off x="411480" y="435483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 reviewed work uses V2X-shared, multi-agent observations as input to causal discovery, and none uses the resulting causal structure to constrain near-miss generation.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Research Gap &amp; Objectives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11480" y="822960"/>
            <a:ext cx="8298180" cy="1028700"/>
          </a:xfrm>
          <a:prstGeom prst="roundRect">
            <a:avLst>
              <a:gd fmla="val 5333" name="adj"/>
            </a:avLst>
          </a:prstGeom>
          <a:solidFill>
            <a:srgbClr val="FDF3EC"/>
          </a:solidFill>
          <a:ln cap="flat" cmpd="sng" w="12700">
            <a:solidFill>
              <a:srgbClr val="F3D9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582930" y="925830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Causal discovery sees only one vehicle. </a:t>
            </a: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Interactions outside ego-sensor range are invisible to the causal graph, even though V2X-style data already captures them.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Near-miss generators don't check causal plausibility. </a:t>
            </a: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Generators are scored on realism, not on whether a reaction is actually caused by the agent it appears to respond 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11480" y="2091690"/>
            <a:ext cx="2674620" cy="1028700"/>
          </a:xfrm>
          <a:prstGeom prst="roundRect">
            <a:avLst>
              <a:gd fmla="val 466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548640" y="219456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48640" y="250317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Build causal graphs with and without multi-agent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3223260" y="2091690"/>
            <a:ext cx="2674620" cy="1028700"/>
          </a:xfrm>
          <a:prstGeom prst="roundRect">
            <a:avLst>
              <a:gd fmla="val 466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3360420" y="219456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3360420" y="250317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Quantify the causal coverage gained from V2X-style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035040" y="2091690"/>
            <a:ext cx="2674620" cy="1028700"/>
          </a:xfrm>
          <a:prstGeom prst="roundRect">
            <a:avLst>
              <a:gd fmla="val 466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6172200" y="219456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6172200" y="250317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Extract genuine near-miss events (true TTC &amp; hard braking)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11480" y="3291840"/>
            <a:ext cx="2674620" cy="1028700"/>
          </a:xfrm>
          <a:prstGeom prst="roundRect">
            <a:avLst>
              <a:gd fmla="val 466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548640" y="339471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48640" y="370332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Generate near-miss scenarios constrained by the causal 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223260" y="3291840"/>
            <a:ext cx="2674620" cy="1028700"/>
          </a:xfrm>
          <a:prstGeom prst="roundRect">
            <a:avLst>
              <a:gd fmla="val 466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3360420" y="339471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360420" y="370332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Train an unconstrained baseline generator for comparison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6035040" y="3291840"/>
            <a:ext cx="2674620" cy="1028700"/>
          </a:xfrm>
          <a:prstGeom prst="roundRect">
            <a:avLst>
              <a:gd fmla="val 466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6172200" y="339471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172200" y="370332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Validate on causal consistency, realism, and diversity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Dataset &amp; Methodology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11480" y="754380"/>
            <a:ext cx="82981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NGSIM US-101 selected: open access, equivalent naturalistic-highway-trajectory structure, and a fixed overhead vantage point capturing every vehicle simultaneously.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11480" y="1474470"/>
            <a:ext cx="1954530" cy="2160270"/>
          </a:xfrm>
          <a:prstGeom prst="roundRect">
            <a:avLst>
              <a:gd fmla="val 280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1148715" y="1680210"/>
            <a:ext cx="480060" cy="4800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1148715" y="1680210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548640" y="2263140"/>
            <a:ext cx="16802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82930" y="2606040"/>
            <a:ext cx="161163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Ego-only vs. ego+V2X</a:t>
            </a:r>
            <a:r>
              <a:rPr lang="en-GB" sz="900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 feature sets; true-TTC &amp; hard-braking near-miss extraction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2366010" y="2348865"/>
            <a:ext cx="1714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2537460" y="1474470"/>
            <a:ext cx="1954530" cy="2160270"/>
          </a:xfrm>
          <a:prstGeom prst="roundRect">
            <a:avLst>
              <a:gd fmla="val 280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3274695" y="1680210"/>
            <a:ext cx="480060" cy="4800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3274695" y="1680210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2674620" y="2263140"/>
            <a:ext cx="16802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Causal Discovery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2708910" y="2606040"/>
            <a:ext cx="161163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PC algorithm run on both feature sets, α = 0.05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491990" y="2348865"/>
            <a:ext cx="1714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663440" y="1474470"/>
            <a:ext cx="1954530" cy="2160270"/>
          </a:xfrm>
          <a:prstGeom prst="roundRect">
            <a:avLst>
              <a:gd fmla="val 280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5400675" y="1680210"/>
            <a:ext cx="480060" cy="4800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5400675" y="1680210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800600" y="2263140"/>
            <a:ext cx="16802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Generative Replay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834890" y="2606040"/>
            <a:ext cx="161163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Causal-masked CVAE vs. unconstrained baseline CVAE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617970" y="2348865"/>
            <a:ext cx="1714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6789420" y="1474470"/>
            <a:ext cx="1954530" cy="2160270"/>
          </a:xfrm>
          <a:prstGeom prst="roundRect">
            <a:avLst>
              <a:gd fmla="val 280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7526655" y="1680210"/>
            <a:ext cx="480060" cy="4800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7526655" y="1680210"/>
            <a:ext cx="4800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926580" y="2263140"/>
            <a:ext cx="16802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6960870" y="2606040"/>
            <a:ext cx="161163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Reconstruction, diversity, and causal consistency, both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11480" y="387477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Near-miss criteria: true TTC (closing-speed based) &lt; 3.0s, or deceleration &lt; −10 ft/s² (≈ −3.05 m/s²)  •  4.0% of frames flagged → 12,101 events across 662 vehicles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11480" y="432054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HighD (referenced in the original literature review) was considered, but NGSIM was selected for its open accessibility and directly usable multi-agent structure.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Causal Discovery: Ego-Only vs. V2X Context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11480" y="925830"/>
            <a:ext cx="2468880" cy="788670"/>
          </a:xfrm>
          <a:prstGeom prst="roundRect">
            <a:avLst>
              <a:gd fmla="val 695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548640" y="994410"/>
            <a:ext cx="9601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GB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1440180" y="994410"/>
            <a:ext cx="13030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Ego-only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graph edges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3086100" y="925830"/>
            <a:ext cx="2468880" cy="788670"/>
          </a:xfrm>
          <a:prstGeom prst="roundRect">
            <a:avLst>
              <a:gd fmla="val 6957" name="adj"/>
            </a:avLst>
          </a:prstGeom>
          <a:solidFill>
            <a:srgbClr val="F4F6FB"/>
          </a:solidFill>
          <a:ln cap="flat" cmpd="sng" w="1270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3223260" y="994410"/>
            <a:ext cx="9601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GB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114800" y="994410"/>
            <a:ext cx="13030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Ego+V2X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graph edges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760720" y="925830"/>
            <a:ext cx="2468880" cy="788670"/>
          </a:xfrm>
          <a:prstGeom prst="roundRect">
            <a:avLst>
              <a:gd fmla="val 6957" name="adj"/>
            </a:avLst>
          </a:prstGeom>
          <a:solidFill>
            <a:srgbClr val="EAF3EE"/>
          </a:solidFill>
          <a:ln cap="flat" cmpd="sng" w="12700">
            <a:solidFill>
              <a:srgbClr val="B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5897880" y="994410"/>
            <a:ext cx="9601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3000"/>
              <a:buFont typeface="Cambria"/>
              <a:buNone/>
            </a:pPr>
            <a:r>
              <a:rPr b="1" i="0" lang="en-GB" sz="3000" u="none" cap="none" strike="noStrike">
                <a:solidFill>
                  <a:srgbClr val="2E7D5B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789420" y="994410"/>
            <a:ext cx="13030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New causal links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recovered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usal_graph_comparison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8730" y="1885950"/>
            <a:ext cx="6583680" cy="278544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/>
          <p:nvPr/>
        </p:nvSpPr>
        <p:spPr>
          <a:xfrm>
            <a:off x="411480" y="469773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Notable new links: mean_accel ↔ mean_lead_acc, mean_speed → mean_lead_vel, mean_speed → rel_speed_to_lead — agent-to-agent reactions invisible to ego-only discovery.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Causal-Graph-Constrained Generative Replay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11480" y="754380"/>
            <a:ext cx="82981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conditional VAEs generate the ego vehicle's reaction (acceleration, speed) from V2X</a:t>
            </a:r>
            <a:r>
              <a:rPr lang="en-GB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context (leader kinematics, headway, relative speed).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11480" y="1440180"/>
            <a:ext cx="3909060" cy="2606040"/>
          </a:xfrm>
          <a:prstGeom prst="roundRect">
            <a:avLst>
              <a:gd fmla="val 2105" name="adj"/>
            </a:avLst>
          </a:prstGeom>
          <a:solidFill>
            <a:srgbClr val="F4F6FB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617220" y="1591056"/>
            <a:ext cx="34975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Causal-Masked CVAE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617220" y="1906524"/>
            <a:ext cx="34975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Decoder’s context→output path masked by the discovered causal 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617220" y="2331720"/>
            <a:ext cx="34975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Only causally-linked context features can drive the generated reaction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390 trainable params, 300 epochs, M2/MPS</a:t>
            </a: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0.137ms single-scenario inference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4663440" y="1440180"/>
            <a:ext cx="3909060" cy="2606040"/>
          </a:xfrm>
          <a:prstGeom prst="roundRect">
            <a:avLst>
              <a:gd fmla="val 2105" name="adj"/>
            </a:avLst>
          </a:prstGeom>
          <a:solidFill>
            <a:srgbClr val="F4F6FB"/>
          </a:solidFill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4869180" y="1591056"/>
            <a:ext cx="34975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Unconstrained Baseline CVAE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869180" y="1906524"/>
            <a:ext cx="34975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Architecturally identical, fully dense context→output path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869180" y="2331720"/>
            <a:ext cx="34975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Any context feature can influence the generated reaction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390 trainable params, </a:t>
            </a: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00 epochs, M2/MPS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0.123ms single-scenario inference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11480" y="4217670"/>
            <a:ext cx="82981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Both models are computationally negligible relative to any real-time V2X communication budget — the causal constraint adds no meaningful deployment cost.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Evaluation: Causal Consistency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usal_consistency_comparison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891540"/>
            <a:ext cx="3771900" cy="2828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2"/>
          <p:cNvGraphicFramePr/>
          <p:nvPr/>
        </p:nvGraphicFramePr>
        <p:xfrm>
          <a:off x="4491990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{ADC64784-9AB9-4895-9C37-D7228D335338}</a:tableStyleId>
              </a:tblPr>
              <a:tblGrid>
                <a:gridCol w="1405875"/>
                <a:gridCol w="1405875"/>
                <a:gridCol w="1405875"/>
              </a:tblGrid>
              <a:tr h="32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Masked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2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Linked-feature corr.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0.4647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0.4115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Unlinked-feature corr.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0.0609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0.2818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Consistency gap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GB" sz="1000" u="none" cap="none" strike="noStrike">
                          <a:solidFill>
                            <a:srgbClr val="2E7D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0.4038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33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cap="none" strike="noStrike">
                          <a:solidFill>
                            <a:srgbClr val="2B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7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2"/>
          <p:cNvSpPr/>
          <p:nvPr/>
        </p:nvSpPr>
        <p:spPr>
          <a:xfrm>
            <a:off x="4491990" y="2468880"/>
            <a:ext cx="421767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~3x higher causal consistency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than the unconstrained baseline — masked-model reactions are almost uncorrelated with context features the causal graph says shouldn't matter.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411480" y="4526280"/>
            <a:ext cx="82981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causal-masked model matches baseline on causally-relevant correlation while suppressing spurious correlation with unrelated context by nearly 5x — encoding the causal graph directly into the generator enforces a correctness property the baseline cannot.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i="0" lang="en-GB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Discussion &amp; Key Innovations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411480" y="891540"/>
            <a:ext cx="8298180" cy="754380"/>
          </a:xfrm>
          <a:prstGeom prst="roundRect">
            <a:avLst>
              <a:gd fmla="val 7273" name="adj"/>
            </a:avLst>
          </a:prstGeom>
          <a:solidFill>
            <a:srgbClr val="EAF3EE"/>
          </a:solidFill>
          <a:ln cap="flat" cmpd="sng" w="12700">
            <a:solidFill>
              <a:srgbClr val="B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582930" y="973836"/>
            <a:ext cx="79552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The causal-masked generator matches baseline on causally-relevant correlation while suppressing spurious correlation with unrelated context by nearly 5x — encoding the causal graph directly into the generator enforces a correctness property the baseline cannot.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411480" y="1885950"/>
            <a:ext cx="4011930" cy="2263140"/>
          </a:xfrm>
          <a:prstGeom prst="roundRect">
            <a:avLst>
              <a:gd fmla="val 2424" name="adj"/>
            </a:avLst>
          </a:prstGeom>
          <a:solidFill>
            <a:srgbClr val="F4F6FB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617220" y="2057400"/>
            <a:ext cx="360045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I1: V2X-Perception Simulation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17220" y="2606040"/>
            <a:ext cx="36004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A reusable feature-engineering method that derives V2X-shared context directly from single-source naturalistic recordings — removing dependency on scarce, access-restricted multi-sensor V2X datasets for causal-discovery research.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4697730" y="1885950"/>
            <a:ext cx="4011930" cy="2263140"/>
          </a:xfrm>
          <a:prstGeom prst="roundRect">
            <a:avLst>
              <a:gd fmla="val 2424" name="adj"/>
            </a:avLst>
          </a:prstGeom>
          <a:solidFill>
            <a:srgbClr val="F4F6FB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4903470" y="2057400"/>
            <a:ext cx="360045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I2: Causal-Masked Generative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903470" y="2606040"/>
            <a:ext cx="36004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3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B2B33"/>
                </a:solidFill>
                <a:latin typeface="Calibri"/>
                <a:ea typeface="Calibri"/>
                <a:cs typeface="Calibri"/>
                <a:sym typeface="Calibri"/>
              </a:rPr>
              <a:t>A generative mechanism that encodes a data-derived causal graph directly into a model's decoder connectivity — mechanically constraining what the generator is architecturally permitted to produce, rather than evaluating causal plausibility only after generation.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11480" y="432054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Future work: extend validation to additional multi-sensor V2X datasets and sequence-level generation.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11480" y="10287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V2X-style multi-agent context reveals causal structure invisible to ego-only discovery — and using that structure to constrain a near-miss generator measurably improves causal faithfulness.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411480" y="1851660"/>
            <a:ext cx="7886700" cy="26060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1" lang="en-GB" sz="1100">
                <a:solidFill>
                  <a:schemeClr val="dk1"/>
                </a:solidFill>
              </a:rPr>
              <a:t>Cooperative Context Unlocks Hidden Logic:</a:t>
            </a:r>
            <a:r>
              <a:rPr lang="en-GB" sz="1100">
                <a:solidFill>
                  <a:schemeClr val="dk1"/>
                </a:solidFill>
              </a:rPr>
              <a:t> Proved that V2X multi-agent context expands the recovered causal graph from 7 to 18 edges, capturing 12 essential agent-to-agent driver dependencies invisible to isolated ego sensors.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1" lang="en-GB" sz="1100">
                <a:solidFill>
                  <a:schemeClr val="dk1"/>
                </a:solidFill>
              </a:rPr>
              <a:t>Causally-Gated Generative Replay:</a:t>
            </a:r>
            <a:r>
              <a:rPr lang="en-GB" sz="1100">
                <a:solidFill>
                  <a:schemeClr val="dk1"/>
                </a:solidFill>
              </a:rPr>
              <a:t> Architected a novel CVAE with a custom PyTorch </a:t>
            </a:r>
            <a:r>
              <a:rPr lang="en-GB" sz="1100">
                <a:solidFill>
                  <a:srgbClr val="188038"/>
                </a:solidFill>
              </a:rPr>
              <a:t>MaskedLinear</a:t>
            </a:r>
            <a:r>
              <a:rPr lang="en-GB" sz="1100">
                <a:solidFill>
                  <a:schemeClr val="dk1"/>
                </a:solidFill>
              </a:rPr>
              <a:t> layer that hardwires the discovered causal DAG as a decoder constraint, forcing synthetic near-miss reactions to obey physical cause-and-effect.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1" lang="en-GB" sz="1100">
                <a:solidFill>
                  <a:schemeClr val="dk1"/>
                </a:solidFill>
              </a:rPr>
              <a:t>3.11x Causal Faithfulness Improvement:</a:t>
            </a:r>
            <a:r>
              <a:rPr lang="en-GB" sz="1100">
                <a:solidFill>
                  <a:schemeClr val="dk1"/>
                </a:solidFill>
              </a:rPr>
              <a:t> Demonstrated a Causal Consistency Gap of </a:t>
            </a:r>
            <a:r>
              <a:rPr b="1" lang="en-GB" sz="1100">
                <a:solidFill>
                  <a:schemeClr val="dk1"/>
                </a:solidFill>
              </a:rPr>
              <a:t>0.4038</a:t>
            </a:r>
            <a:r>
              <a:rPr lang="en-GB" sz="1100">
                <a:solidFill>
                  <a:schemeClr val="dk1"/>
                </a:solidFill>
              </a:rPr>
              <a:t> (vs. 0.1297 for baseline) and a 5x reduction in spurious correlations, proving that architectural masking enforces logical correctness black-box AI cannot match.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1" lang="en-GB" sz="1100">
                <a:solidFill>
                  <a:schemeClr val="dk1"/>
                </a:solidFill>
              </a:rPr>
              <a:t>Real-Time Deployment Ready:</a:t>
            </a:r>
            <a:r>
              <a:rPr lang="en-GB" sz="1100">
                <a:solidFill>
                  <a:schemeClr val="dk1"/>
                </a:solidFill>
              </a:rPr>
              <a:t> Achieved sub-millisecond inference latency (</a:t>
            </a:r>
            <a:r>
              <a:rPr b="1" lang="en-GB" sz="1100">
                <a:solidFill>
                  <a:schemeClr val="dk1"/>
                </a:solidFill>
              </a:rPr>
              <a:t>0.137 ms</a:t>
            </a:r>
            <a:r>
              <a:rPr lang="en-GB" sz="1100">
                <a:solidFill>
                  <a:schemeClr val="dk1"/>
                </a:solidFill>
              </a:rPr>
              <a:t> per single-scenario generation on Apple Silicon MPS hardware), confirming zero computational overhead for live AV safety verification.</a:t>
            </a:r>
            <a:endParaRPr sz="1100">
              <a:solidFill>
                <a:schemeClr val="dk1"/>
              </a:solidFill>
            </a:endParaRPr>
          </a:p>
          <a:p>
            <a:pPr indent="-254000" lvl="0" marL="2540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t/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